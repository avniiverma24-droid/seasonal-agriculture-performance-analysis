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3581812"/>
            <a:ext cx="4299455" cy="861497"/>
          </a:xfrm>
        </p:spPr>
        <p:txBody>
          <a:bodyPr vert="horz" lIns="91440" tIns="45720" rIns="91440" bIns="45720" rtlCol="0" anchor="t">
            <a:normAutofit fontScale="85000" lnSpcReduction="10000"/>
          </a:bodyPr>
          <a:lstStyle/>
          <a:p>
            <a:r>
              <a:rPr lang="en-US" b="0" dirty="0">
                <a:solidFill>
                  <a:schemeClr val="tx1"/>
                </a:solidFill>
              </a:rPr>
              <a:t>Student Name – Avni Verma </a:t>
            </a:r>
            <a:endParaRPr lang="en-IN" b="0" dirty="0">
              <a:solidFill>
                <a:schemeClr val="tx1"/>
              </a:solidFill>
            </a:endParaRPr>
          </a:p>
          <a:p>
            <a:r>
              <a:rPr lang="en-US" b="0" dirty="0">
                <a:solidFill>
                  <a:schemeClr val="tx1"/>
                </a:solidFill>
              </a:rPr>
              <a:t>College Name – Manipal University Jaipur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484060"/>
            <a:ext cx="5856907" cy="117143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576469"/>
            <a:ext cx="3372548" cy="646331"/>
          </a:xfrm>
          <a:prstGeom prst="rect">
            <a:avLst/>
          </a:prstGeom>
          <a:noFill/>
        </p:spPr>
        <p:txBody>
          <a:bodyPr wrap="square" rtlCol="0">
            <a:spAutoFit/>
          </a:bodyPr>
          <a:lstStyle/>
          <a:p>
            <a:r>
              <a:rPr lang="en-US" b="1" dirty="0"/>
              <a:t>AICTE STU ID : </a:t>
            </a:r>
            <a:r>
              <a:rPr lang="en-IN" dirty="0"/>
              <a:t>STU69d6630e4bac11775657742</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DC5C46E-F6C9-1FEE-1A80-CE8BE427C2E7}"/>
                  </a:ext>
                </a:extLst>
              </p:cNvPr>
              <p:cNvSpPr txBox="1"/>
              <p:nvPr/>
            </p:nvSpPr>
            <p:spPr>
              <a:xfrm>
                <a:off x="620367" y="1737410"/>
                <a:ext cx="9536646" cy="4253537"/>
              </a:xfrm>
              <a:prstGeom prst="rect">
                <a:avLst/>
              </a:prstGeom>
              <a:noFill/>
            </p:spPr>
            <p:txBody>
              <a:bodyPr wrap="square" rtlCol="0">
                <a:spAutoFit/>
              </a:bodyPr>
              <a:lstStyle/>
              <a:p>
                <a:pPr lvl="0"/>
                <a:r>
                  <a:rPr lang="en-IN" b="1" dirty="0">
                    <a:latin typeface="Calibri" panose="020F0502020204030204" pitchFamily="34" charset="0"/>
                    <a:ea typeface="Calibri" panose="020F0502020204030204" pitchFamily="34" charset="0"/>
                    <a:cs typeface="Calibri" panose="020F0502020204030204" pitchFamily="34" charset="0"/>
                  </a:rPr>
                  <a:t>Project Scope &amp; Dataset:</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Analyzes</a:t>
                </a:r>
                <a:r>
                  <a:rPr lang="en-IN" dirty="0">
                    <a:latin typeface="Calibri" panose="020F0502020204030204" pitchFamily="34" charset="0"/>
                    <a:ea typeface="Calibri" panose="020F0502020204030204" pitchFamily="34" charset="0"/>
                    <a:cs typeface="Calibri" panose="020F0502020204030204" pitchFamily="34" charset="0"/>
                  </a:rPr>
                  <a:t> 4,000 agricultural records across 28 parameters to investigate how environmental conditions, farming practices, and resource usage impact agricultural performance. </a:t>
                </a:r>
              </a:p>
              <a:p>
                <a:pPr lvl="0"/>
                <a:r>
                  <a:rPr lang="en-IN" b="1" dirty="0">
                    <a:latin typeface="Calibri" panose="020F0502020204030204" pitchFamily="34" charset="0"/>
                    <a:ea typeface="Calibri" panose="020F0502020204030204" pitchFamily="34" charset="0"/>
                    <a:cs typeface="Calibri" panose="020F0502020204030204" pitchFamily="34" charset="0"/>
                  </a:rPr>
                  <a:t>Core Objective:</a:t>
                </a:r>
                <a:r>
                  <a:rPr lang="en-IN" dirty="0">
                    <a:latin typeface="Calibri" panose="020F0502020204030204" pitchFamily="34" charset="0"/>
                    <a:ea typeface="Calibri" panose="020F0502020204030204" pitchFamily="34" charset="0"/>
                    <a:cs typeface="Calibri" panose="020F0502020204030204" pitchFamily="34" charset="0"/>
                  </a:rPr>
                  <a:t> To bridge the gap between raw field data and data-driven agricultural planning by uncovering seasonal patterns, resource variations, and economic relationships. </a:t>
                </a:r>
              </a:p>
              <a:p>
                <a:pPr lvl="0"/>
                <a:r>
                  <a:rPr lang="en-IN" b="1" dirty="0">
                    <a:latin typeface="Calibri" panose="020F0502020204030204" pitchFamily="34" charset="0"/>
                    <a:ea typeface="Calibri" panose="020F0502020204030204" pitchFamily="34" charset="0"/>
                    <a:cs typeface="Calibri" panose="020F0502020204030204" pitchFamily="34" charset="0"/>
                  </a:rPr>
                  <a:t>Key Findings:</a:t>
                </a:r>
                <a:endParaRPr lang="en-IN"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Seasonal Disparities:</a:t>
                </a:r>
                <a:r>
                  <a:rPr lang="en-IN" dirty="0">
                    <a:latin typeface="Calibri" panose="020F0502020204030204" pitchFamily="34" charset="0"/>
                    <a:ea typeface="Calibri" panose="020F0502020204030204" pitchFamily="34" charset="0"/>
                    <a:cs typeface="Calibri" panose="020F0502020204030204" pitchFamily="34" charset="0"/>
                  </a:rPr>
                  <a:t> Kharif achieves the highest average profitability (</a:t>
                </a:r>
                <a14:m>
                  <m:oMath xmlns:m="http://schemas.openxmlformats.org/officeDocument/2006/math">
                    <m:r>
                      <a:rPr lang="en-IN"/>
                      <m:t>≈₹1.79</m:t>
                    </m:r>
                    <m:r>
                      <m:rPr>
                        <m:nor/>
                      </m:rPr>
                      <a:rPr lang="en-IN">
                        <a:latin typeface="Calibri" panose="020F0502020204030204" pitchFamily="34" charset="0"/>
                        <a:ea typeface="Calibri" panose="020F0502020204030204" pitchFamily="34" charset="0"/>
                        <a:cs typeface="Calibri" panose="020F0502020204030204" pitchFamily="34" charset="0"/>
                      </a:rPr>
                      <m:t> Lakh</m:t>
                    </m:r>
                  </m:oMath>
                </a14:m>
                <a:r>
                  <a:rPr lang="en-IN" dirty="0">
                    <a:latin typeface="Calibri" panose="020F0502020204030204" pitchFamily="34" charset="0"/>
                    <a:ea typeface="Calibri" panose="020F0502020204030204" pitchFamily="34" charset="0"/>
                    <a:cs typeface="Calibri" panose="020F0502020204030204" pitchFamily="34" charset="0"/>
                  </a:rPr>
                  <a:t>) and yield (</a:t>
                </a:r>
                <a14:m>
                  <m:oMath xmlns:m="http://schemas.openxmlformats.org/officeDocument/2006/math">
                    <m:r>
                      <a:rPr lang="en-IN"/>
                      <m:t>≈5.64</m:t>
                    </m:r>
                    <m:r>
                      <m:rPr>
                        <m:nor/>
                      </m:rPr>
                      <a:rPr lang="en-IN">
                        <a:latin typeface="Calibri" panose="020F0502020204030204" pitchFamily="34" charset="0"/>
                        <a:ea typeface="Calibri" panose="020F0502020204030204" pitchFamily="34" charset="0"/>
                        <a:cs typeface="Calibri" panose="020F0502020204030204" pitchFamily="34" charset="0"/>
                      </a:rPr>
                      <m:t> Tonnes/Ha</m:t>
                    </m:r>
                  </m:oMath>
                </a14:m>
                <a:r>
                  <a:rPr lang="en-IN" dirty="0">
                    <a:latin typeface="Calibri" panose="020F0502020204030204" pitchFamily="34" charset="0"/>
                    <a:ea typeface="Calibri" panose="020F0502020204030204" pitchFamily="34" charset="0"/>
                    <a:cs typeface="Calibri" panose="020F0502020204030204" pitchFamily="34" charset="0"/>
                  </a:rPr>
                  <a:t>) due to natural monsoon support, while Zaid records negative profitability (</a:t>
                </a:r>
                <a14:m>
                  <m:oMath xmlns:m="http://schemas.openxmlformats.org/officeDocument/2006/math">
                    <m:r>
                      <a:rPr lang="en-IN"/>
                      <m:t>≈−₹24,804</m:t>
                    </m:r>
                  </m:oMath>
                </a14:m>
                <a:r>
                  <a:rPr lang="en-IN" dirty="0">
                    <a:latin typeface="Calibri" panose="020F0502020204030204" pitchFamily="34" charset="0"/>
                    <a:ea typeface="Calibri" panose="020F0502020204030204" pitchFamily="34" charset="0"/>
                    <a:cs typeface="Calibri" panose="020F0502020204030204" pitchFamily="34" charset="0"/>
                  </a:rPr>
                  <a:t>) due to high artificial irrigation costs. </a:t>
                </a:r>
              </a:p>
              <a:p>
                <a:pPr marL="742950" lvl="1"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Operational Efficiency:</a:t>
                </a:r>
                <a:r>
                  <a:rPr lang="en-IN" dirty="0">
                    <a:latin typeface="Calibri" panose="020F0502020204030204" pitchFamily="34" charset="0"/>
                    <a:ea typeface="Calibri" panose="020F0502020204030204" pitchFamily="34" charset="0"/>
                    <a:cs typeface="Calibri" panose="020F0502020204030204" pitchFamily="34" charset="0"/>
                  </a:rPr>
                  <a:t> Drip irrigation significantly outperforms flood irrigation in water efficiency (</a:t>
                </a:r>
                <a14:m>
                  <m:oMath xmlns:m="http://schemas.openxmlformats.org/officeDocument/2006/math">
                    <m:r>
                      <a:rPr lang="en-IN" i="1"/>
                      <m:t>𝑡</m:t>
                    </m:r>
                  </m:oMath>
                </a14:m>
                <a:r>
                  <a:rPr lang="en-IN" dirty="0">
                    <a:latin typeface="Calibri" panose="020F0502020204030204" pitchFamily="34" charset="0"/>
                    <a:ea typeface="Calibri" panose="020F0502020204030204" pitchFamily="34" charset="0"/>
                    <a:cs typeface="Calibri" panose="020F0502020204030204" pitchFamily="34" charset="0"/>
                  </a:rPr>
                  <a:t> per </a:t>
                </a:r>
                <a14:m>
                  <m:oMath xmlns:m="http://schemas.openxmlformats.org/officeDocument/2006/math">
                    <m:r>
                      <a:rPr lang="en-IN"/>
                      <m:t>1,000</m:t>
                    </m:r>
                    <m:sSup>
                      <m:sSupPr>
                        <m:ctrlPr>
                          <a:rPr lang="en-IN" i="1"/>
                        </m:ctrlPr>
                      </m:sSupPr>
                      <m:e>
                        <m:r>
                          <a:rPr lang="en-IN" i="1"/>
                          <m:t>𝑚</m:t>
                        </m:r>
                      </m:e>
                      <m:sup>
                        <m:r>
                          <a:rPr lang="en-IN"/>
                          <m:t>3</m:t>
                        </m:r>
                      </m:sup>
                    </m:sSup>
                  </m:oMath>
                </a14:m>
                <a:r>
                  <a:rPr lang="en-IN" dirty="0">
                    <a:latin typeface="Calibri" panose="020F0502020204030204" pitchFamily="34" charset="0"/>
                    <a:ea typeface="Calibri" panose="020F0502020204030204" pitchFamily="34" charset="0"/>
                    <a:cs typeface="Calibri" panose="020F0502020204030204" pitchFamily="34" charset="0"/>
                  </a:rPr>
                  <a:t>) and net operational margins.</a:t>
                </a:r>
              </a:p>
              <a:p>
                <a:pPr lvl="0"/>
                <a:r>
                  <a:rPr lang="en-IN" b="1" dirty="0">
                    <a:latin typeface="Calibri" panose="020F0502020204030204" pitchFamily="34" charset="0"/>
                    <a:ea typeface="Calibri" panose="020F0502020204030204" pitchFamily="34" charset="0"/>
                    <a:cs typeface="Calibri" panose="020F0502020204030204" pitchFamily="34" charset="0"/>
                  </a:rPr>
                  <a:t>Evidence-Based Recommendations:</a:t>
                </a:r>
                <a:r>
                  <a:rPr lang="en-IN" dirty="0">
                    <a:latin typeface="Calibri" panose="020F0502020204030204" pitchFamily="34" charset="0"/>
                    <a:ea typeface="Calibri" panose="020F0502020204030204" pitchFamily="34" charset="0"/>
                    <a:cs typeface="Calibri" panose="020F0502020204030204" pitchFamily="34" charset="0"/>
                  </a:rPr>
                  <a:t> Transition Zaid/Rabi crops to drip irrigation systems, mandate Soil Health Cards to prevent chemical over-fertilization, and implement targeted agricultural credit for high-risk seasonal planning. </a:t>
                </a:r>
              </a:p>
              <a:p>
                <a:endParaRPr lang="en-IN" dirty="0"/>
              </a:p>
            </p:txBody>
          </p:sp>
        </mc:Choice>
        <mc:Fallback>
          <p:sp>
            <p:nvSpPr>
              <p:cNvPr id="2" name="TextBox 1">
                <a:extLst>
                  <a:ext uri="{FF2B5EF4-FFF2-40B4-BE49-F238E27FC236}">
                    <a16:creationId xmlns:a16="http://schemas.microsoft.com/office/drawing/2014/main" id="{8DC5C46E-F6C9-1FEE-1A80-CE8BE427C2E7}"/>
                  </a:ext>
                </a:extLst>
              </p:cNvPr>
              <p:cNvSpPr txBox="1">
                <a:spLocks noRot="1" noChangeAspect="1" noMove="1" noResize="1" noEditPoints="1" noAdjustHandles="1" noChangeArrowheads="1" noChangeShapeType="1" noTextEdit="1"/>
              </p:cNvSpPr>
              <p:nvPr/>
            </p:nvSpPr>
            <p:spPr>
              <a:xfrm>
                <a:off x="620367" y="1737410"/>
                <a:ext cx="9536646" cy="4253537"/>
              </a:xfrm>
              <a:prstGeom prst="rect">
                <a:avLst/>
              </a:prstGeom>
              <a:blipFill>
                <a:blip r:embed="rId4"/>
                <a:stretch>
                  <a:fillRect l="-575" t="-716"/>
                </a:stretch>
              </a:blipFill>
            </p:spPr>
            <p:txBody>
              <a:bodyPr/>
              <a:lstStyle/>
              <a:p>
                <a:r>
                  <a:rPr lang="en-IN">
                    <a:noFill/>
                  </a:rPr>
                  <a:t> </a:t>
                </a:r>
              </a:p>
            </p:txBody>
          </p:sp>
        </mc:Fallback>
      </mc:AlternateContent>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10000"/>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Agricultural Policymakers &amp; Government Planners:</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Utilize evidence-based seasonal insights to design targeted agricultural policies, regional resource allocation, and seasonal subsidy programs. </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Farming Communities &amp; Agronomists:</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Benefit from optimized resource strategies (such as drip irrigation adoption and rationalized fertilizer use) to improve crop yields and net profitability.</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Agricultural Extension Officers:</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Guide local farmers on best practices derived from seasonal pattern analysis, helping them mitigate high-risk seasons like Zaid.</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Agri-Business &amp; Financial Stakeholders:</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Leverage economic performance metrics (revenue, cost, and profit variations) to assess seasonal credit risks, design better crop insurance frameworks, and make informed supply chain investments.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Programming Language:</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Python for core data processing, statistical analysis, and modelling.</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Data Manipulation &amp; Analysis:</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pandas and NumPy for structured dataset loading, cleaning, data wrangling, missing value imputation, and aggregations.</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Data Visualization:</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Matplotlib and Seaborn for generating univariate, bivariate, and multivariate visual plots (such as histograms, boxplots, scatter plots, and correlation heatmaps).</a:t>
            </a:r>
          </a:p>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Development Environment:</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Jupyter Notebook for interactive script execution, documentation, and stepwise project reporting.</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9C6B3B7-9993-1570-1217-2DF5133D7CA6}"/>
              </a:ext>
            </a:extLst>
          </p:cNvPr>
          <p:cNvPicPr>
            <a:picLocks noChangeAspect="1"/>
          </p:cNvPicPr>
          <p:nvPr/>
        </p:nvPicPr>
        <p:blipFill>
          <a:blip r:embed="rId3"/>
          <a:srcRect b="7315"/>
          <a:stretch>
            <a:fillRect/>
          </a:stretch>
        </p:blipFill>
        <p:spPr>
          <a:xfrm>
            <a:off x="320982" y="1275371"/>
            <a:ext cx="7297271" cy="2274653"/>
          </a:xfrm>
          <a:prstGeom prst="rect">
            <a:avLst/>
          </a:prstGeom>
        </p:spPr>
      </p:pic>
      <p:sp>
        <p:nvSpPr>
          <p:cNvPr id="6" name="TextBox 5">
            <a:extLst>
              <a:ext uri="{FF2B5EF4-FFF2-40B4-BE49-F238E27FC236}">
                <a16:creationId xmlns:a16="http://schemas.microsoft.com/office/drawing/2014/main" id="{58CF9DC6-393A-342F-A47B-C03ABE2EE70C}"/>
              </a:ext>
            </a:extLst>
          </p:cNvPr>
          <p:cNvSpPr txBox="1"/>
          <p:nvPr/>
        </p:nvSpPr>
        <p:spPr>
          <a:xfrm>
            <a:off x="7826188" y="1398494"/>
            <a:ext cx="3962400" cy="3970318"/>
          </a:xfrm>
          <a:prstGeom prst="rect">
            <a:avLst/>
          </a:prstGeom>
          <a:noFill/>
        </p:spPr>
        <p:txBody>
          <a:bodyPr wrap="square" rtlCol="0">
            <a:spAutoFit/>
          </a:bodyPr>
          <a:lstStyle/>
          <a:p>
            <a:pPr marL="342900" indent="-342900">
              <a:buAutoNum type="arabicPeriod"/>
            </a:pPr>
            <a:r>
              <a:rPr lang="en-IN" dirty="0"/>
              <a:t>Import Libraries</a:t>
            </a:r>
          </a:p>
          <a:p>
            <a:pPr marL="342900" indent="-342900">
              <a:buAutoNum type="arabicPeriod"/>
            </a:pPr>
            <a:r>
              <a:rPr lang="en-IN" dirty="0"/>
              <a:t>Load the dataset and </a:t>
            </a:r>
            <a:r>
              <a:rPr lang="en-IN" dirty="0" err="1"/>
              <a:t>analyze</a:t>
            </a:r>
            <a:r>
              <a:rPr lang="en-IN" dirty="0"/>
              <a:t> the top 5 rows.</a:t>
            </a:r>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r>
              <a:rPr lang="en-IN" dirty="0"/>
              <a:t>Inspect dataset dimensions and structural details.</a:t>
            </a:r>
          </a:p>
        </p:txBody>
      </p:sp>
      <p:pic>
        <p:nvPicPr>
          <p:cNvPr id="10" name="Picture 9">
            <a:extLst>
              <a:ext uri="{FF2B5EF4-FFF2-40B4-BE49-F238E27FC236}">
                <a16:creationId xmlns:a16="http://schemas.microsoft.com/office/drawing/2014/main" id="{9F654E03-7817-482F-3A68-E2201CD65799}"/>
              </a:ext>
            </a:extLst>
          </p:cNvPr>
          <p:cNvPicPr>
            <a:picLocks noChangeAspect="1"/>
          </p:cNvPicPr>
          <p:nvPr/>
        </p:nvPicPr>
        <p:blipFill>
          <a:blip r:embed="rId4"/>
          <a:stretch>
            <a:fillRect/>
          </a:stretch>
        </p:blipFill>
        <p:spPr>
          <a:xfrm>
            <a:off x="1385509" y="3638774"/>
            <a:ext cx="5168215" cy="302618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EDB190B-D9A5-4385-914A-767248420B6F}"/>
              </a:ext>
            </a:extLst>
          </p:cNvPr>
          <p:cNvPicPr>
            <a:picLocks noChangeAspect="1"/>
          </p:cNvPicPr>
          <p:nvPr/>
        </p:nvPicPr>
        <p:blipFill>
          <a:blip r:embed="rId3"/>
          <a:stretch>
            <a:fillRect/>
          </a:stretch>
        </p:blipFill>
        <p:spPr>
          <a:xfrm>
            <a:off x="320982" y="1201586"/>
            <a:ext cx="4423637" cy="4381043"/>
          </a:xfrm>
          <a:prstGeom prst="rect">
            <a:avLst/>
          </a:prstGeom>
        </p:spPr>
      </p:pic>
      <p:pic>
        <p:nvPicPr>
          <p:cNvPr id="9" name="Picture 8">
            <a:extLst>
              <a:ext uri="{FF2B5EF4-FFF2-40B4-BE49-F238E27FC236}">
                <a16:creationId xmlns:a16="http://schemas.microsoft.com/office/drawing/2014/main" id="{0CEACDEC-3449-BFC4-216C-35BBC6C7422A}"/>
              </a:ext>
            </a:extLst>
          </p:cNvPr>
          <p:cNvPicPr>
            <a:picLocks noChangeAspect="1"/>
          </p:cNvPicPr>
          <p:nvPr/>
        </p:nvPicPr>
        <p:blipFill>
          <a:blip r:embed="rId4"/>
          <a:stretch>
            <a:fillRect/>
          </a:stretch>
        </p:blipFill>
        <p:spPr>
          <a:xfrm>
            <a:off x="4983286" y="1710026"/>
            <a:ext cx="6964532" cy="3364162"/>
          </a:xfrm>
          <a:prstGeom prst="rect">
            <a:avLst/>
          </a:prstGeom>
        </p:spPr>
      </p:pic>
      <p:sp>
        <p:nvSpPr>
          <p:cNvPr id="11" name="TextBox 10">
            <a:extLst>
              <a:ext uri="{FF2B5EF4-FFF2-40B4-BE49-F238E27FC236}">
                <a16:creationId xmlns:a16="http://schemas.microsoft.com/office/drawing/2014/main" id="{69F1F4E3-DC1A-A475-C9A5-33A00C97CDC8}"/>
              </a:ext>
            </a:extLst>
          </p:cNvPr>
          <p:cNvSpPr txBox="1"/>
          <p:nvPr/>
        </p:nvSpPr>
        <p:spPr>
          <a:xfrm>
            <a:off x="320982" y="5818094"/>
            <a:ext cx="11584147" cy="369332"/>
          </a:xfrm>
          <a:prstGeom prst="rect">
            <a:avLst/>
          </a:prstGeom>
          <a:noFill/>
        </p:spPr>
        <p:txBody>
          <a:bodyPr wrap="square" rtlCol="0">
            <a:spAutoFit/>
          </a:bodyPr>
          <a:lstStyle/>
          <a:p>
            <a:r>
              <a:rPr lang="en-IN" dirty="0"/>
              <a:t>4. Check datatypes for each column.                                         5. Identify and handle missing values </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1157"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4B1F1DF-E1F9-125B-B3BA-EEF4A6E9B3D0}"/>
              </a:ext>
            </a:extLst>
          </p:cNvPr>
          <p:cNvPicPr>
            <a:picLocks noChangeAspect="1"/>
          </p:cNvPicPr>
          <p:nvPr/>
        </p:nvPicPr>
        <p:blipFill>
          <a:blip r:embed="rId3"/>
          <a:stretch>
            <a:fillRect/>
          </a:stretch>
        </p:blipFill>
        <p:spPr>
          <a:xfrm>
            <a:off x="320981" y="1200574"/>
            <a:ext cx="5674043" cy="2367086"/>
          </a:xfrm>
          <a:prstGeom prst="rect">
            <a:avLst/>
          </a:prstGeom>
        </p:spPr>
      </p:pic>
      <p:pic>
        <p:nvPicPr>
          <p:cNvPr id="12" name="Picture 11">
            <a:extLst>
              <a:ext uri="{FF2B5EF4-FFF2-40B4-BE49-F238E27FC236}">
                <a16:creationId xmlns:a16="http://schemas.microsoft.com/office/drawing/2014/main" id="{AD77E925-0D4D-9FE8-1781-CBD4E7E019A7}"/>
              </a:ext>
            </a:extLst>
          </p:cNvPr>
          <p:cNvPicPr>
            <a:picLocks noChangeAspect="1"/>
          </p:cNvPicPr>
          <p:nvPr/>
        </p:nvPicPr>
        <p:blipFill>
          <a:blip r:embed="rId4"/>
          <a:stretch>
            <a:fillRect/>
          </a:stretch>
        </p:blipFill>
        <p:spPr>
          <a:xfrm>
            <a:off x="320982" y="3731418"/>
            <a:ext cx="5674043" cy="2837022"/>
          </a:xfrm>
          <a:prstGeom prst="rect">
            <a:avLst/>
          </a:prstGeom>
        </p:spPr>
      </p:pic>
      <p:sp>
        <p:nvSpPr>
          <p:cNvPr id="13" name="TextBox 12">
            <a:extLst>
              <a:ext uri="{FF2B5EF4-FFF2-40B4-BE49-F238E27FC236}">
                <a16:creationId xmlns:a16="http://schemas.microsoft.com/office/drawing/2014/main" id="{0690C446-6E2D-874A-C9C3-3A3E5819D564}"/>
              </a:ext>
            </a:extLst>
          </p:cNvPr>
          <p:cNvSpPr txBox="1"/>
          <p:nvPr/>
        </p:nvSpPr>
        <p:spPr>
          <a:xfrm>
            <a:off x="6571129" y="1275371"/>
            <a:ext cx="4831977" cy="3970318"/>
          </a:xfrm>
          <a:prstGeom prst="rect">
            <a:avLst/>
          </a:prstGeom>
          <a:noFill/>
        </p:spPr>
        <p:txBody>
          <a:bodyPr wrap="square" rtlCol="0">
            <a:spAutoFit/>
          </a:bodyPr>
          <a:lstStyle/>
          <a:p>
            <a:r>
              <a:rPr lang="en-IN" dirty="0"/>
              <a:t>6. Identify duplicate rows.</a:t>
            </a:r>
          </a:p>
          <a:p>
            <a:endParaRPr lang="en-IN" dirty="0"/>
          </a:p>
          <a:p>
            <a:endParaRPr lang="en-IN" dirty="0"/>
          </a:p>
          <a:p>
            <a:r>
              <a:rPr lang="en-IN" dirty="0"/>
              <a:t>7. Drop existing duplicates.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8. Summarise statistics for key numerical features.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845B671-70DF-67E9-2996-6EDAEA0FA9F0}"/>
              </a:ext>
            </a:extLst>
          </p:cNvPr>
          <p:cNvPicPr>
            <a:picLocks noChangeAspect="1"/>
          </p:cNvPicPr>
          <p:nvPr/>
        </p:nvPicPr>
        <p:blipFill>
          <a:blip r:embed="rId3"/>
          <a:stretch>
            <a:fillRect/>
          </a:stretch>
        </p:blipFill>
        <p:spPr>
          <a:xfrm>
            <a:off x="320982" y="1275371"/>
            <a:ext cx="5978419" cy="1588626"/>
          </a:xfrm>
          <a:prstGeom prst="rect">
            <a:avLst/>
          </a:prstGeom>
        </p:spPr>
      </p:pic>
      <p:pic>
        <p:nvPicPr>
          <p:cNvPr id="12" name="Picture 11">
            <a:extLst>
              <a:ext uri="{FF2B5EF4-FFF2-40B4-BE49-F238E27FC236}">
                <a16:creationId xmlns:a16="http://schemas.microsoft.com/office/drawing/2014/main" id="{FF5638D7-6EC2-0153-4E6F-1CBB16F9CD81}"/>
              </a:ext>
            </a:extLst>
          </p:cNvPr>
          <p:cNvPicPr>
            <a:picLocks noChangeAspect="1"/>
          </p:cNvPicPr>
          <p:nvPr/>
        </p:nvPicPr>
        <p:blipFill>
          <a:blip r:embed="rId4"/>
          <a:stretch>
            <a:fillRect/>
          </a:stretch>
        </p:blipFill>
        <p:spPr>
          <a:xfrm>
            <a:off x="320982" y="2984558"/>
            <a:ext cx="5029504" cy="3761193"/>
          </a:xfrm>
          <a:prstGeom prst="rect">
            <a:avLst/>
          </a:prstGeom>
        </p:spPr>
      </p:pic>
      <p:sp>
        <p:nvSpPr>
          <p:cNvPr id="13" name="TextBox 12">
            <a:extLst>
              <a:ext uri="{FF2B5EF4-FFF2-40B4-BE49-F238E27FC236}">
                <a16:creationId xmlns:a16="http://schemas.microsoft.com/office/drawing/2014/main" id="{6FC75323-527D-4AF5-A18D-B7DAE637AEDA}"/>
              </a:ext>
            </a:extLst>
          </p:cNvPr>
          <p:cNvSpPr txBox="1"/>
          <p:nvPr/>
        </p:nvSpPr>
        <p:spPr>
          <a:xfrm>
            <a:off x="7299018" y="3429000"/>
            <a:ext cx="4572000" cy="369332"/>
          </a:xfrm>
          <a:prstGeom prst="rect">
            <a:avLst/>
          </a:prstGeom>
          <a:noFill/>
        </p:spPr>
        <p:txBody>
          <a:bodyPr wrap="square" rtlCol="0">
            <a:spAutoFit/>
          </a:bodyPr>
          <a:lstStyle/>
          <a:p>
            <a:r>
              <a:rPr lang="en-IN" dirty="0"/>
              <a:t>9. Investigate and visualise outliers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16744"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5937683-DD39-8347-2B4B-1BD86D940E71}"/>
              </a:ext>
            </a:extLst>
          </p:cNvPr>
          <p:cNvPicPr>
            <a:picLocks noChangeAspect="1"/>
          </p:cNvPicPr>
          <p:nvPr/>
        </p:nvPicPr>
        <p:blipFill>
          <a:blip r:embed="rId3"/>
          <a:stretch>
            <a:fillRect/>
          </a:stretch>
        </p:blipFill>
        <p:spPr>
          <a:xfrm>
            <a:off x="580109" y="1087113"/>
            <a:ext cx="4640738" cy="2776676"/>
          </a:xfrm>
          <a:prstGeom prst="rect">
            <a:avLst/>
          </a:prstGeom>
        </p:spPr>
      </p:pic>
      <p:pic>
        <p:nvPicPr>
          <p:cNvPr id="12" name="Picture 11">
            <a:extLst>
              <a:ext uri="{FF2B5EF4-FFF2-40B4-BE49-F238E27FC236}">
                <a16:creationId xmlns:a16="http://schemas.microsoft.com/office/drawing/2014/main" id="{CEF9ADFD-D362-9C75-A7EA-A1C4DDC1F797}"/>
              </a:ext>
            </a:extLst>
          </p:cNvPr>
          <p:cNvPicPr>
            <a:picLocks noChangeAspect="1"/>
          </p:cNvPicPr>
          <p:nvPr/>
        </p:nvPicPr>
        <p:blipFill>
          <a:blip r:embed="rId4"/>
          <a:stretch>
            <a:fillRect/>
          </a:stretch>
        </p:blipFill>
        <p:spPr>
          <a:xfrm>
            <a:off x="6096000" y="1087112"/>
            <a:ext cx="4374651" cy="2776677"/>
          </a:xfrm>
          <a:prstGeom prst="rect">
            <a:avLst/>
          </a:prstGeom>
        </p:spPr>
      </p:pic>
      <p:pic>
        <p:nvPicPr>
          <p:cNvPr id="14" name="Picture 13">
            <a:extLst>
              <a:ext uri="{FF2B5EF4-FFF2-40B4-BE49-F238E27FC236}">
                <a16:creationId xmlns:a16="http://schemas.microsoft.com/office/drawing/2014/main" id="{5C606330-F08D-5FA1-31B8-AC603AD4B6AA}"/>
              </a:ext>
            </a:extLst>
          </p:cNvPr>
          <p:cNvPicPr>
            <a:picLocks noChangeAspect="1"/>
          </p:cNvPicPr>
          <p:nvPr/>
        </p:nvPicPr>
        <p:blipFill>
          <a:blip r:embed="rId5"/>
          <a:stretch>
            <a:fillRect/>
          </a:stretch>
        </p:blipFill>
        <p:spPr>
          <a:xfrm>
            <a:off x="3598387" y="3971638"/>
            <a:ext cx="4478813" cy="2839929"/>
          </a:xfrm>
          <a:prstGeom prst="rect">
            <a:avLst/>
          </a:prstGeom>
        </p:spPr>
      </p:pic>
      <p:sp>
        <p:nvSpPr>
          <p:cNvPr id="15" name="TextBox 14">
            <a:extLst>
              <a:ext uri="{FF2B5EF4-FFF2-40B4-BE49-F238E27FC236}">
                <a16:creationId xmlns:a16="http://schemas.microsoft.com/office/drawing/2014/main" id="{74D86D85-744E-74E1-FB18-13D52481DB15}"/>
              </a:ext>
            </a:extLst>
          </p:cNvPr>
          <p:cNvSpPr txBox="1"/>
          <p:nvPr/>
        </p:nvSpPr>
        <p:spPr>
          <a:xfrm>
            <a:off x="580109" y="3921169"/>
            <a:ext cx="2771915" cy="369332"/>
          </a:xfrm>
          <a:prstGeom prst="rect">
            <a:avLst/>
          </a:prstGeom>
          <a:noFill/>
        </p:spPr>
        <p:txBody>
          <a:bodyPr wrap="square" rtlCol="0">
            <a:spAutoFit/>
          </a:bodyPr>
          <a:lstStyle/>
          <a:p>
            <a:r>
              <a:rPr lang="en-IN" dirty="0"/>
              <a:t>10. Univariate Analysis</a:t>
            </a:r>
          </a:p>
        </p:txBody>
      </p:sp>
      <p:sp>
        <p:nvSpPr>
          <p:cNvPr id="16" name="TextBox 15">
            <a:extLst>
              <a:ext uri="{FF2B5EF4-FFF2-40B4-BE49-F238E27FC236}">
                <a16:creationId xmlns:a16="http://schemas.microsoft.com/office/drawing/2014/main" id="{4D99C6BC-6A86-1B1C-6D59-B0D12367448B}"/>
              </a:ext>
            </a:extLst>
          </p:cNvPr>
          <p:cNvSpPr txBox="1"/>
          <p:nvPr/>
        </p:nvSpPr>
        <p:spPr>
          <a:xfrm>
            <a:off x="8283325" y="3971638"/>
            <a:ext cx="2958416" cy="369332"/>
          </a:xfrm>
          <a:prstGeom prst="rect">
            <a:avLst/>
          </a:prstGeom>
          <a:noFill/>
        </p:spPr>
        <p:txBody>
          <a:bodyPr wrap="square" rtlCol="0">
            <a:spAutoFit/>
          </a:bodyPr>
          <a:lstStyle/>
          <a:p>
            <a:r>
              <a:rPr lang="en-IN" dirty="0"/>
              <a:t>11. Bivariate Analysis</a:t>
            </a:r>
          </a:p>
        </p:txBody>
      </p:sp>
      <p:sp>
        <p:nvSpPr>
          <p:cNvPr id="17" name="TextBox 16">
            <a:extLst>
              <a:ext uri="{FF2B5EF4-FFF2-40B4-BE49-F238E27FC236}">
                <a16:creationId xmlns:a16="http://schemas.microsoft.com/office/drawing/2014/main" id="{D103BADD-D988-3D23-397C-EE138BE32DCB}"/>
              </a:ext>
            </a:extLst>
          </p:cNvPr>
          <p:cNvSpPr txBox="1"/>
          <p:nvPr/>
        </p:nvSpPr>
        <p:spPr>
          <a:xfrm>
            <a:off x="8157882" y="6329082"/>
            <a:ext cx="3083859" cy="369332"/>
          </a:xfrm>
          <a:prstGeom prst="rect">
            <a:avLst/>
          </a:prstGeom>
          <a:noFill/>
        </p:spPr>
        <p:txBody>
          <a:bodyPr wrap="square" rtlCol="0">
            <a:spAutoFit/>
          </a:bodyPr>
          <a:lstStyle/>
          <a:p>
            <a:r>
              <a:rPr lang="en-IN" dirty="0"/>
              <a:t>12. Multivariate Analysis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EC7F-95EE-29DE-418B-2F44928BF70F}"/>
              </a:ext>
            </a:extLst>
          </p:cNvPr>
          <p:cNvSpPr>
            <a:spLocks noGrp="1"/>
          </p:cNvSpPr>
          <p:nvPr>
            <p:ph type="title"/>
          </p:nvPr>
        </p:nvSpPr>
        <p:spPr>
          <a:xfrm>
            <a:off x="426323" y="242045"/>
            <a:ext cx="2155513" cy="833719"/>
          </a:xfrm>
        </p:spPr>
        <p:txBody>
          <a:bodyPr>
            <a:normAutofit/>
          </a:bodyPr>
          <a:lstStyle/>
          <a:p>
            <a:r>
              <a:rPr lang="en-GB" b="1" dirty="0">
                <a:solidFill>
                  <a:schemeClr val="tx1"/>
                </a:solidFill>
              </a:rPr>
              <a:t>RESULTS</a:t>
            </a:r>
            <a:endParaRPr lang="en-IN" b="1" dirty="0">
              <a:solidFill>
                <a:schemeClr val="tx1"/>
              </a:solidFill>
            </a:endParaRPr>
          </a:p>
        </p:txBody>
      </p:sp>
      <p:sp>
        <p:nvSpPr>
          <p:cNvPr id="3" name="Slide Number Placeholder 2">
            <a:extLst>
              <a:ext uri="{FF2B5EF4-FFF2-40B4-BE49-F238E27FC236}">
                <a16:creationId xmlns:a16="http://schemas.microsoft.com/office/drawing/2014/main" id="{FEC8CA8C-3179-F545-F5AF-67542877618F}"/>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5" name="Picture 4">
            <a:extLst>
              <a:ext uri="{FF2B5EF4-FFF2-40B4-BE49-F238E27FC236}">
                <a16:creationId xmlns:a16="http://schemas.microsoft.com/office/drawing/2014/main" id="{6156D397-345D-4C9F-6C2E-7319FB23F8F1}"/>
              </a:ext>
            </a:extLst>
          </p:cNvPr>
          <p:cNvPicPr>
            <a:picLocks noChangeAspect="1"/>
          </p:cNvPicPr>
          <p:nvPr/>
        </p:nvPicPr>
        <p:blipFill>
          <a:blip r:embed="rId2"/>
          <a:stretch>
            <a:fillRect/>
          </a:stretch>
        </p:blipFill>
        <p:spPr>
          <a:xfrm>
            <a:off x="426323" y="959223"/>
            <a:ext cx="6658666" cy="4939553"/>
          </a:xfrm>
          <a:prstGeom prst="rect">
            <a:avLst/>
          </a:prstGeom>
        </p:spPr>
      </p:pic>
      <p:sp>
        <p:nvSpPr>
          <p:cNvPr id="6" name="TextBox 5">
            <a:extLst>
              <a:ext uri="{FF2B5EF4-FFF2-40B4-BE49-F238E27FC236}">
                <a16:creationId xmlns:a16="http://schemas.microsoft.com/office/drawing/2014/main" id="{AEB3C112-2680-694D-F697-36515102E177}"/>
              </a:ext>
            </a:extLst>
          </p:cNvPr>
          <p:cNvSpPr txBox="1"/>
          <p:nvPr/>
        </p:nvSpPr>
        <p:spPr>
          <a:xfrm>
            <a:off x="7189694" y="2716306"/>
            <a:ext cx="4177553" cy="369332"/>
          </a:xfrm>
          <a:prstGeom prst="rect">
            <a:avLst/>
          </a:prstGeom>
          <a:noFill/>
        </p:spPr>
        <p:txBody>
          <a:bodyPr wrap="square" rtlCol="0">
            <a:spAutoFit/>
          </a:bodyPr>
          <a:lstStyle/>
          <a:p>
            <a:r>
              <a:rPr lang="en-IN" dirty="0"/>
              <a:t>         13. Correlation Matrix</a:t>
            </a:r>
          </a:p>
        </p:txBody>
      </p:sp>
    </p:spTree>
    <p:extLst>
      <p:ext uri="{BB962C8B-B14F-4D97-AF65-F5344CB8AC3E}">
        <p14:creationId xmlns:p14="http://schemas.microsoft.com/office/powerpoint/2010/main" val="3793412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A06B-7D10-2D97-2D38-366C7D327232}"/>
              </a:ext>
            </a:extLst>
          </p:cNvPr>
          <p:cNvSpPr>
            <a:spLocks noGrp="1"/>
          </p:cNvSpPr>
          <p:nvPr>
            <p:ph type="title"/>
          </p:nvPr>
        </p:nvSpPr>
        <p:spPr>
          <a:xfrm>
            <a:off x="435287" y="295835"/>
            <a:ext cx="2505137" cy="753035"/>
          </a:xfrm>
        </p:spPr>
        <p:txBody>
          <a:bodyPr>
            <a:normAutofit fontScale="90000"/>
          </a:bodyPr>
          <a:lstStyle/>
          <a:p>
            <a:r>
              <a:rPr lang="en-GB" sz="4800" b="1" dirty="0">
                <a:solidFill>
                  <a:schemeClr val="tx1"/>
                </a:solidFill>
              </a:rPr>
              <a:t>RESULTS</a:t>
            </a:r>
            <a:endParaRPr lang="en-IN" sz="4800" b="1" dirty="0">
              <a:solidFill>
                <a:schemeClr val="tx1"/>
              </a:solidFill>
            </a:endParaRPr>
          </a:p>
        </p:txBody>
      </p:sp>
      <p:sp>
        <p:nvSpPr>
          <p:cNvPr id="3" name="Slide Number Placeholder 2">
            <a:extLst>
              <a:ext uri="{FF2B5EF4-FFF2-40B4-BE49-F238E27FC236}">
                <a16:creationId xmlns:a16="http://schemas.microsoft.com/office/drawing/2014/main" id="{EA5BA45D-B02F-F151-C859-C6AF6F506D6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7" name="Picture 6">
            <a:extLst>
              <a:ext uri="{FF2B5EF4-FFF2-40B4-BE49-F238E27FC236}">
                <a16:creationId xmlns:a16="http://schemas.microsoft.com/office/drawing/2014/main" id="{79FB23DF-543B-438D-1E89-09C53E40DD1F}"/>
              </a:ext>
            </a:extLst>
          </p:cNvPr>
          <p:cNvPicPr>
            <a:picLocks noChangeAspect="1"/>
          </p:cNvPicPr>
          <p:nvPr/>
        </p:nvPicPr>
        <p:blipFill>
          <a:blip r:embed="rId2"/>
          <a:stretch>
            <a:fillRect/>
          </a:stretch>
        </p:blipFill>
        <p:spPr>
          <a:xfrm>
            <a:off x="435287" y="1238243"/>
            <a:ext cx="5095937" cy="3642921"/>
          </a:xfrm>
          <a:prstGeom prst="rect">
            <a:avLst/>
          </a:prstGeom>
        </p:spPr>
      </p:pic>
      <p:pic>
        <p:nvPicPr>
          <p:cNvPr id="9" name="Picture 8">
            <a:extLst>
              <a:ext uri="{FF2B5EF4-FFF2-40B4-BE49-F238E27FC236}">
                <a16:creationId xmlns:a16="http://schemas.microsoft.com/office/drawing/2014/main" id="{AD72E6A7-434B-FD84-CA4B-01D41DF59F50}"/>
              </a:ext>
            </a:extLst>
          </p:cNvPr>
          <p:cNvPicPr>
            <a:picLocks noChangeAspect="1"/>
          </p:cNvPicPr>
          <p:nvPr/>
        </p:nvPicPr>
        <p:blipFill>
          <a:blip r:embed="rId3"/>
          <a:stretch>
            <a:fillRect/>
          </a:stretch>
        </p:blipFill>
        <p:spPr>
          <a:xfrm>
            <a:off x="6096000" y="451513"/>
            <a:ext cx="4580138" cy="5683242"/>
          </a:xfrm>
          <a:prstGeom prst="rect">
            <a:avLst/>
          </a:prstGeom>
        </p:spPr>
      </p:pic>
      <p:sp>
        <p:nvSpPr>
          <p:cNvPr id="13" name="TextBox 12">
            <a:extLst>
              <a:ext uri="{FF2B5EF4-FFF2-40B4-BE49-F238E27FC236}">
                <a16:creationId xmlns:a16="http://schemas.microsoft.com/office/drawing/2014/main" id="{53C6504B-E6AC-9047-60AA-143C4FE08FAB}"/>
              </a:ext>
            </a:extLst>
          </p:cNvPr>
          <p:cNvSpPr txBox="1"/>
          <p:nvPr/>
        </p:nvSpPr>
        <p:spPr>
          <a:xfrm>
            <a:off x="681318" y="5163671"/>
            <a:ext cx="4580138" cy="369332"/>
          </a:xfrm>
          <a:prstGeom prst="rect">
            <a:avLst/>
          </a:prstGeom>
          <a:noFill/>
        </p:spPr>
        <p:txBody>
          <a:bodyPr wrap="square" rtlCol="0">
            <a:spAutoFit/>
          </a:bodyPr>
          <a:lstStyle/>
          <a:p>
            <a:r>
              <a:rPr lang="en-IN" dirty="0"/>
              <a:t>14. Seasonal Performance Comparison</a:t>
            </a:r>
          </a:p>
        </p:txBody>
      </p:sp>
      <p:sp>
        <p:nvSpPr>
          <p:cNvPr id="14" name="TextBox 13">
            <a:extLst>
              <a:ext uri="{FF2B5EF4-FFF2-40B4-BE49-F238E27FC236}">
                <a16:creationId xmlns:a16="http://schemas.microsoft.com/office/drawing/2014/main" id="{DD86C39C-B1ED-EDB8-7CE3-19D07B650103}"/>
              </a:ext>
            </a:extLst>
          </p:cNvPr>
          <p:cNvSpPr txBox="1"/>
          <p:nvPr/>
        </p:nvSpPr>
        <p:spPr>
          <a:xfrm>
            <a:off x="6243917" y="6223924"/>
            <a:ext cx="4284303" cy="369332"/>
          </a:xfrm>
          <a:prstGeom prst="rect">
            <a:avLst/>
          </a:prstGeom>
          <a:noFill/>
        </p:spPr>
        <p:txBody>
          <a:bodyPr wrap="square" rtlCol="0">
            <a:spAutoFit/>
          </a:bodyPr>
          <a:lstStyle/>
          <a:p>
            <a:r>
              <a:rPr lang="en-IN" dirty="0"/>
              <a:t>15. Student designed analysis</a:t>
            </a:r>
          </a:p>
        </p:txBody>
      </p:sp>
    </p:spTree>
    <p:extLst>
      <p:ext uri="{BB962C8B-B14F-4D97-AF65-F5344CB8AC3E}">
        <p14:creationId xmlns:p14="http://schemas.microsoft.com/office/powerpoint/2010/main" val="180694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65CD-B62F-DCF0-8A3B-40B2EB64FF23}"/>
              </a:ext>
            </a:extLst>
          </p:cNvPr>
          <p:cNvSpPr>
            <a:spLocks noGrp="1"/>
          </p:cNvSpPr>
          <p:nvPr>
            <p:ph type="title"/>
          </p:nvPr>
        </p:nvSpPr>
        <p:spPr>
          <a:xfrm>
            <a:off x="381498" y="340659"/>
            <a:ext cx="2406525" cy="573741"/>
          </a:xfrm>
        </p:spPr>
        <p:txBody>
          <a:bodyPr>
            <a:noAutofit/>
          </a:bodyPr>
          <a:lstStyle/>
          <a:p>
            <a:r>
              <a:rPr lang="en-GB" sz="4400" b="1" dirty="0">
                <a:solidFill>
                  <a:schemeClr val="tx1"/>
                </a:solidFill>
              </a:rPr>
              <a:t>RESULTS</a:t>
            </a:r>
            <a:endParaRPr lang="en-IN" sz="4400" dirty="0">
              <a:solidFill>
                <a:schemeClr val="tx1"/>
              </a:solidFill>
            </a:endParaRPr>
          </a:p>
        </p:txBody>
      </p:sp>
      <p:sp>
        <p:nvSpPr>
          <p:cNvPr id="3" name="Slide Number Placeholder 2">
            <a:extLst>
              <a:ext uri="{FF2B5EF4-FFF2-40B4-BE49-F238E27FC236}">
                <a16:creationId xmlns:a16="http://schemas.microsoft.com/office/drawing/2014/main" id="{D16871A3-27D5-BF87-B47B-7D1ECD4190B9}"/>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 name="Picture 4">
            <a:extLst>
              <a:ext uri="{FF2B5EF4-FFF2-40B4-BE49-F238E27FC236}">
                <a16:creationId xmlns:a16="http://schemas.microsoft.com/office/drawing/2014/main" id="{BFC654F6-75D2-2729-2D00-804B2E4A32DF}"/>
              </a:ext>
            </a:extLst>
          </p:cNvPr>
          <p:cNvPicPr>
            <a:picLocks noChangeAspect="1"/>
          </p:cNvPicPr>
          <p:nvPr/>
        </p:nvPicPr>
        <p:blipFill>
          <a:blip r:embed="rId2"/>
          <a:stretch>
            <a:fillRect/>
          </a:stretch>
        </p:blipFill>
        <p:spPr>
          <a:xfrm>
            <a:off x="381498" y="1208047"/>
            <a:ext cx="7475604" cy="2772282"/>
          </a:xfrm>
          <a:prstGeom prst="rect">
            <a:avLst/>
          </a:prstGeom>
        </p:spPr>
      </p:pic>
      <p:pic>
        <p:nvPicPr>
          <p:cNvPr id="7" name="Picture 6">
            <a:extLst>
              <a:ext uri="{FF2B5EF4-FFF2-40B4-BE49-F238E27FC236}">
                <a16:creationId xmlns:a16="http://schemas.microsoft.com/office/drawing/2014/main" id="{C3500F4E-DA05-60CC-2585-37624B77DB1C}"/>
              </a:ext>
            </a:extLst>
          </p:cNvPr>
          <p:cNvPicPr>
            <a:picLocks noChangeAspect="1"/>
          </p:cNvPicPr>
          <p:nvPr/>
        </p:nvPicPr>
        <p:blipFill>
          <a:blip r:embed="rId3"/>
          <a:stretch>
            <a:fillRect/>
          </a:stretch>
        </p:blipFill>
        <p:spPr>
          <a:xfrm>
            <a:off x="381498" y="4225866"/>
            <a:ext cx="7496761" cy="1619123"/>
          </a:xfrm>
          <a:prstGeom prst="rect">
            <a:avLst/>
          </a:prstGeom>
        </p:spPr>
      </p:pic>
      <p:sp>
        <p:nvSpPr>
          <p:cNvPr id="8" name="TextBox 7">
            <a:extLst>
              <a:ext uri="{FF2B5EF4-FFF2-40B4-BE49-F238E27FC236}">
                <a16:creationId xmlns:a16="http://schemas.microsoft.com/office/drawing/2014/main" id="{F4D417B7-A414-4E57-7E86-646078C0A730}"/>
              </a:ext>
            </a:extLst>
          </p:cNvPr>
          <p:cNvSpPr txBox="1"/>
          <p:nvPr/>
        </p:nvSpPr>
        <p:spPr>
          <a:xfrm>
            <a:off x="8068235" y="1425388"/>
            <a:ext cx="3742267" cy="3970318"/>
          </a:xfrm>
          <a:prstGeom prst="rect">
            <a:avLst/>
          </a:prstGeom>
          <a:noFill/>
        </p:spPr>
        <p:txBody>
          <a:bodyPr wrap="square" rtlCol="0">
            <a:spAutoFit/>
          </a:bodyPr>
          <a:lstStyle/>
          <a:p>
            <a:r>
              <a:rPr lang="en-IN" dirty="0"/>
              <a:t>16. Meaningful insights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17. Evidence-based recommendations</a:t>
            </a:r>
          </a:p>
        </p:txBody>
      </p:sp>
    </p:spTree>
    <p:extLst>
      <p:ext uri="{BB962C8B-B14F-4D97-AF65-F5344CB8AC3E}">
        <p14:creationId xmlns:p14="http://schemas.microsoft.com/office/powerpoint/2010/main" val="2666370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7E0A8-9987-716D-106F-A627E134EA4D}"/>
              </a:ext>
            </a:extLst>
          </p:cNvPr>
          <p:cNvSpPr>
            <a:spLocks noGrp="1"/>
          </p:cNvSpPr>
          <p:nvPr>
            <p:ph type="title"/>
          </p:nvPr>
        </p:nvSpPr>
        <p:spPr>
          <a:xfrm>
            <a:off x="381498" y="349624"/>
            <a:ext cx="2424454" cy="600635"/>
          </a:xfrm>
        </p:spPr>
        <p:txBody>
          <a:bodyPr>
            <a:noAutofit/>
          </a:bodyPr>
          <a:lstStyle/>
          <a:p>
            <a:r>
              <a:rPr lang="en-GB" sz="4400" b="1" dirty="0">
                <a:solidFill>
                  <a:schemeClr val="tx1"/>
                </a:solidFill>
              </a:rPr>
              <a:t>RESULTS</a:t>
            </a:r>
            <a:endParaRPr lang="en-IN" sz="4400" b="1" dirty="0">
              <a:solidFill>
                <a:schemeClr val="tx1"/>
              </a:solidFill>
            </a:endParaRPr>
          </a:p>
        </p:txBody>
      </p:sp>
      <p:sp>
        <p:nvSpPr>
          <p:cNvPr id="3" name="Slide Number Placeholder 2">
            <a:extLst>
              <a:ext uri="{FF2B5EF4-FFF2-40B4-BE49-F238E27FC236}">
                <a16:creationId xmlns:a16="http://schemas.microsoft.com/office/drawing/2014/main" id="{61424829-B7C8-732A-F678-64D799B3B5E1}"/>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5" name="Picture 4">
            <a:extLst>
              <a:ext uri="{FF2B5EF4-FFF2-40B4-BE49-F238E27FC236}">
                <a16:creationId xmlns:a16="http://schemas.microsoft.com/office/drawing/2014/main" id="{54E02300-9EDF-C152-AE1F-83192A9238C7}"/>
              </a:ext>
            </a:extLst>
          </p:cNvPr>
          <p:cNvPicPr>
            <a:picLocks noChangeAspect="1"/>
          </p:cNvPicPr>
          <p:nvPr/>
        </p:nvPicPr>
        <p:blipFill>
          <a:blip r:embed="rId2"/>
          <a:stretch>
            <a:fillRect/>
          </a:stretch>
        </p:blipFill>
        <p:spPr>
          <a:xfrm>
            <a:off x="1769276" y="1281953"/>
            <a:ext cx="8653447" cy="4170400"/>
          </a:xfrm>
          <a:prstGeom prst="rect">
            <a:avLst/>
          </a:prstGeom>
        </p:spPr>
      </p:pic>
      <p:sp>
        <p:nvSpPr>
          <p:cNvPr id="6" name="TextBox 5">
            <a:extLst>
              <a:ext uri="{FF2B5EF4-FFF2-40B4-BE49-F238E27FC236}">
                <a16:creationId xmlns:a16="http://schemas.microsoft.com/office/drawing/2014/main" id="{5C74E4F5-0786-7189-9A02-4F135C3D8B0A}"/>
              </a:ext>
            </a:extLst>
          </p:cNvPr>
          <p:cNvSpPr txBox="1"/>
          <p:nvPr/>
        </p:nvSpPr>
        <p:spPr>
          <a:xfrm>
            <a:off x="2940424" y="5673809"/>
            <a:ext cx="6333578" cy="369332"/>
          </a:xfrm>
          <a:prstGeom prst="rect">
            <a:avLst/>
          </a:prstGeom>
          <a:noFill/>
        </p:spPr>
        <p:txBody>
          <a:bodyPr wrap="square" rtlCol="0">
            <a:spAutoFit/>
          </a:bodyPr>
          <a:lstStyle/>
          <a:p>
            <a:pPr algn="ctr"/>
            <a:r>
              <a:rPr lang="en-IN" dirty="0"/>
              <a:t>18. Limitations and Final Conclusion</a:t>
            </a:r>
          </a:p>
        </p:txBody>
      </p:sp>
    </p:spTree>
    <p:extLst>
      <p:ext uri="{BB962C8B-B14F-4D97-AF65-F5344CB8AC3E}">
        <p14:creationId xmlns:p14="http://schemas.microsoft.com/office/powerpoint/2010/main" val="3198588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5740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Placeholder 30">
            <a:extLst>
              <a:ext uri="{FF2B5EF4-FFF2-40B4-BE49-F238E27FC236}">
                <a16:creationId xmlns:a16="http://schemas.microsoft.com/office/drawing/2014/main" id="{6C37CD24-7551-05B5-9A29-A92823DC7C60}"/>
              </a:ext>
            </a:extLst>
          </p:cNvPr>
          <p:cNvSpPr txBox="1">
            <a:spLocks/>
          </p:cNvSpPr>
          <p:nvPr/>
        </p:nvSpPr>
        <p:spPr>
          <a:xfrm>
            <a:off x="473382" y="14277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30">
            <a:extLst>
              <a:ext uri="{FF2B5EF4-FFF2-40B4-BE49-F238E27FC236}">
                <a16:creationId xmlns:a16="http://schemas.microsoft.com/office/drawing/2014/main" id="{8D5AD48F-A1B8-85EA-CE24-693A5EA27429}"/>
              </a:ext>
            </a:extLst>
          </p:cNvPr>
          <p:cNvSpPr txBox="1">
            <a:spLocks/>
          </p:cNvSpPr>
          <p:nvPr/>
        </p:nvSpPr>
        <p:spPr>
          <a:xfrm>
            <a:off x="625782" y="15801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AE24F7FD-EB61-3583-927D-4767095C061D}"/>
              </a:ext>
            </a:extLst>
          </p:cNvPr>
          <p:cNvSpPr txBox="1"/>
          <p:nvPr/>
        </p:nvSpPr>
        <p:spPr>
          <a:xfrm>
            <a:off x="675957" y="1367578"/>
            <a:ext cx="8597153" cy="4062651"/>
          </a:xfrm>
          <a:prstGeom prst="rect">
            <a:avLst/>
          </a:prstGeom>
          <a:noFill/>
        </p:spPr>
        <p:txBody>
          <a:bodyPr wrap="square" rtlCol="0">
            <a:spAutoFit/>
          </a:bodyPr>
          <a:lstStyle/>
          <a:p>
            <a:pPr lvl="0"/>
            <a:r>
              <a:rPr lang="en-IN" sz="2000" b="1" dirty="0">
                <a:latin typeface="Calibri" panose="020F0502020204030204" pitchFamily="34" charset="0"/>
                <a:ea typeface="Calibri" panose="020F0502020204030204" pitchFamily="34" charset="0"/>
                <a:cs typeface="Calibri" panose="020F0502020204030204" pitchFamily="34" charset="0"/>
              </a:rPr>
              <a:t>Longitudinal Multi-Year Tracking:</a:t>
            </a:r>
            <a:r>
              <a:rPr lang="en-IN" sz="2000" dirty="0">
                <a:latin typeface="Calibri" panose="020F0502020204030204" pitchFamily="34" charset="0"/>
                <a:ea typeface="Calibri" panose="020F0502020204030204" pitchFamily="34" charset="0"/>
                <a:cs typeface="Calibri" panose="020F0502020204030204" pitchFamily="34" charset="0"/>
              </a:rPr>
              <a:t> Expand the dataset to capture multi-year climate shifts and historical weather cycles, enabling predictive time-series forecasting for long-term agricultural planning.</a:t>
            </a:r>
          </a:p>
          <a:p>
            <a:pPr lvl="0"/>
            <a:r>
              <a:rPr lang="en-IN" sz="2000" b="1" dirty="0">
                <a:latin typeface="Calibri" panose="020F0502020204030204" pitchFamily="34" charset="0"/>
                <a:ea typeface="Calibri" panose="020F0502020204030204" pitchFamily="34" charset="0"/>
                <a:cs typeface="Calibri" panose="020F0502020204030204" pitchFamily="34" charset="0"/>
              </a:rPr>
              <a:t>Real-Time Market Integration:</a:t>
            </a:r>
            <a:r>
              <a:rPr lang="en-IN" sz="2000" dirty="0">
                <a:latin typeface="Calibri" panose="020F0502020204030204" pitchFamily="34" charset="0"/>
                <a:ea typeface="Calibri" panose="020F0502020204030204" pitchFamily="34" charset="0"/>
                <a:cs typeface="Calibri" panose="020F0502020204030204" pitchFamily="34" charset="0"/>
              </a:rPr>
              <a:t> Integrate live supply chain pricing and regional demand feeds to dynamically optimize crop selection and harvest timing for maximum market realization.</a:t>
            </a:r>
          </a:p>
          <a:p>
            <a:pPr lvl="0"/>
            <a:r>
              <a:rPr lang="en-IN" sz="2000" b="1" dirty="0">
                <a:latin typeface="Calibri" panose="020F0502020204030204" pitchFamily="34" charset="0"/>
                <a:ea typeface="Calibri" panose="020F0502020204030204" pitchFamily="34" charset="0"/>
                <a:cs typeface="Calibri" panose="020F0502020204030204" pitchFamily="34" charset="0"/>
              </a:rPr>
              <a:t>Micro-Climate &amp; IoT Sensor Integration:</a:t>
            </a:r>
            <a:r>
              <a:rPr lang="en-IN" sz="2000" dirty="0">
                <a:latin typeface="Calibri" panose="020F0502020204030204" pitchFamily="34" charset="0"/>
                <a:ea typeface="Calibri" panose="020F0502020204030204" pitchFamily="34" charset="0"/>
                <a:cs typeface="Calibri" panose="020F0502020204030204" pitchFamily="34" charset="0"/>
              </a:rPr>
              <a:t> Incorporate hyper-local IoT sensor data (soil sensors, automated weather stations) to move beyond district-level aggregations and provide farm-specific precision advice.</a:t>
            </a:r>
          </a:p>
          <a:p>
            <a:pPr lvl="0"/>
            <a:r>
              <a:rPr lang="en-IN" sz="2000" b="1" dirty="0">
                <a:latin typeface="Calibri" panose="020F0502020204030204" pitchFamily="34" charset="0"/>
                <a:ea typeface="Calibri" panose="020F0502020204030204" pitchFamily="34" charset="0"/>
                <a:cs typeface="Calibri" panose="020F0502020204030204" pitchFamily="34" charset="0"/>
              </a:rPr>
              <a:t>Advanced Machine Learning Models:</a:t>
            </a:r>
            <a:r>
              <a:rPr lang="en-IN" sz="2000" dirty="0">
                <a:latin typeface="Calibri" panose="020F0502020204030204" pitchFamily="34" charset="0"/>
                <a:ea typeface="Calibri" panose="020F0502020204030204" pitchFamily="34" charset="0"/>
                <a:cs typeface="Calibri" panose="020F0502020204030204" pitchFamily="34" charset="0"/>
              </a:rPr>
              <a:t> Develop predictive classification and regression models to automatically forecast seasonal pest outbreaks, optimal fertilizer thresholds, and localized yield risks before planting begins.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3" grpId="0"/>
      <p:bldP spid="6"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https://github.com/avniiverma24-droid/Seasonal-Agriculture-Performance-Analysis.git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81EAC83-5337-7EC1-6867-474E6DBD2FF6}"/>
              </a:ext>
            </a:extLst>
          </p:cNvPr>
          <p:cNvPicPr>
            <a:picLocks noChangeAspect="1"/>
          </p:cNvPicPr>
          <p:nvPr/>
        </p:nvPicPr>
        <p:blipFill>
          <a:blip r:embed="rId3"/>
          <a:stretch>
            <a:fillRect/>
          </a:stretch>
        </p:blipFill>
        <p:spPr>
          <a:xfrm>
            <a:off x="2556660" y="1528717"/>
            <a:ext cx="7078680" cy="500834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1445</TotalTime>
  <Words>745</Words>
  <Application>Microsoft Office PowerPoint</Application>
  <PresentationFormat>Widescreen</PresentationFormat>
  <Paragraphs>95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vt:lpstr>
      <vt:lpstr>RESULTS</vt:lpstr>
      <vt:lpstr>RESULTS</vt:lpstr>
      <vt:lpstr>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[BTECH-007-2023-24] Avni Verma</cp:lastModifiedBy>
  <cp:revision>99</cp:revision>
  <dcterms:created xsi:type="dcterms:W3CDTF">2021-07-11T13:13:15Z</dcterms:created>
  <dcterms:modified xsi:type="dcterms:W3CDTF">2026-09-11T09:36:07Z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